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72" r:id="rId3"/>
    <p:sldId id="258" r:id="rId4"/>
    <p:sldId id="273" r:id="rId5"/>
    <p:sldId id="274" r:id="rId6"/>
    <p:sldId id="259" r:id="rId7"/>
    <p:sldId id="260" r:id="rId8"/>
    <p:sldId id="261" r:id="rId9"/>
    <p:sldId id="262" r:id="rId10"/>
    <p:sldId id="263" r:id="rId11"/>
    <p:sldId id="277" r:id="rId12"/>
    <p:sldId id="264" r:id="rId13"/>
    <p:sldId id="265" r:id="rId14"/>
    <p:sldId id="266" r:id="rId15"/>
    <p:sldId id="267" r:id="rId16"/>
    <p:sldId id="268" r:id="rId17"/>
    <p:sldId id="269" r:id="rId18"/>
    <p:sldId id="275" r:id="rId19"/>
    <p:sldId id="276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26B56-0EB1-447A-ABEA-0264E43820AC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3A4019-F871-49CB-9154-B19F9420F15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3A4019-F871-49CB-9154-B19F9420F150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EDD131-5F85-4B3D-8E2F-B142D473F11E}" type="datetimeFigureOut">
              <a:rPr lang="en-US" smtClean="0"/>
              <a:pPr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CE4EE-A631-496A-A1CC-51A35DDB90D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662" y="1500174"/>
            <a:ext cx="6500858" cy="1071570"/>
          </a:xfrm>
        </p:spPr>
        <p:txBody>
          <a:bodyPr/>
          <a:lstStyle/>
          <a:p>
            <a:r>
              <a:rPr lang="en-US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  <a:latin typeface="Bahnschrift Light Condensed" pitchFamily="34" charset="0"/>
              </a:rPr>
              <a:t>     SPAM EMAIL DETECTION </a:t>
            </a:r>
            <a:endParaRPr lang="en-US" b="1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  <a:latin typeface="Bahnschrift Light Condensed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CFBE464-5922-C281-4A6B-ED6CE287E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02" y="2500306"/>
            <a:ext cx="2786082" cy="9890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Rectangle 5"/>
          <p:cNvSpPr/>
          <p:nvPr/>
        </p:nvSpPr>
        <p:spPr>
          <a:xfrm>
            <a:off x="2143108" y="714356"/>
            <a:ext cx="45720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 DAYS INTERNSHIP / INDUSTRIAL TRAINING PRESENTATION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7158" y="3714752"/>
            <a:ext cx="257176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NITTTR CHANDIGARH</a:t>
            </a:r>
          </a:p>
          <a:p>
            <a:r>
              <a:rPr lang="en-US" dirty="0" smtClean="0"/>
              <a:t>MR. AMRENDRA SHARAN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29388" y="3714752"/>
            <a:ext cx="206101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JASHANDEEP SINGH</a:t>
            </a:r>
          </a:p>
          <a:p>
            <a:r>
              <a:rPr lang="en-US" dirty="0" smtClean="0"/>
              <a:t>A25305223102</a:t>
            </a:r>
          </a:p>
          <a:p>
            <a:r>
              <a:rPr lang="en-US" dirty="0" smtClean="0"/>
              <a:t>BTECH CSE (AI/ML)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857224" y="5786454"/>
            <a:ext cx="7429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AMITY SCHOOL OF ENGINEERING AND TECHNOLOGY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ahnschrift Light" pitchFamily="34" charset="0"/>
              </a:rPr>
              <a:t>INSTITUTION  PROFILE</a:t>
            </a:r>
            <a:endParaRPr lang="en-US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Bahnschrift Ligh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5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None/>
            </a:pPr>
            <a:endParaRPr lang="en-US" sz="1800" dirty="0" smtClean="0">
              <a:solidFill>
                <a:schemeClr val="tx1"/>
              </a:solidFill>
            </a:endParaRPr>
          </a:p>
          <a:p>
            <a:r>
              <a:rPr lang="en-US" sz="1800" dirty="0" smtClean="0">
                <a:solidFill>
                  <a:schemeClr val="tx1"/>
                </a:solidFill>
              </a:rPr>
              <a:t>NITTTR Chandigarh (National Institute of Technical Teachers Training and Research) was established in </a:t>
            </a:r>
            <a:r>
              <a:rPr lang="en-US" sz="1800" b="1" dirty="0" smtClean="0">
                <a:solidFill>
                  <a:schemeClr val="tx1"/>
                </a:solidFill>
              </a:rPr>
              <a:t>1967</a:t>
            </a:r>
            <a:r>
              <a:rPr lang="en-US" sz="1800" dirty="0" smtClean="0">
                <a:solidFill>
                  <a:schemeClr val="tx1"/>
                </a:solidFill>
              </a:rPr>
              <a:t> by the Government of India to train teachers </a:t>
            </a:r>
            <a:r>
              <a:rPr lang="en-US" sz="1800" dirty="0" smtClean="0">
                <a:solidFill>
                  <a:schemeClr val="tx1"/>
                </a:solidFill>
              </a:rPr>
              <a:t>of polytechnics </a:t>
            </a:r>
            <a:r>
              <a:rPr lang="en-US" sz="1800" dirty="0" smtClean="0">
                <a:solidFill>
                  <a:schemeClr val="tx1"/>
                </a:solidFill>
              </a:rPr>
              <a:t>and engineering institutes.</a:t>
            </a:r>
          </a:p>
          <a:p>
            <a:r>
              <a:rPr lang="en-US" sz="1800" dirty="0" smtClean="0"/>
              <a:t>The institute conducts teacher training programs, develops technical curricula, creates e-learning content, and offers consultancy to educational and government bodies. It also carries out research, organizes workshops, and supports skill development and digital learning initiatives.</a:t>
            </a:r>
          </a:p>
          <a:p>
            <a:r>
              <a:rPr lang="en-US" sz="1800" dirty="0" smtClean="0"/>
              <a:t>NITTTR provides: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 smtClean="0"/>
              <a:t>Teacher training programs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 err="1" smtClean="0"/>
              <a:t>M.Tech</a:t>
            </a:r>
            <a:r>
              <a:rPr lang="en-US" sz="1800" dirty="0" smtClean="0"/>
              <a:t>/M.E. postgraduate courses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 smtClean="0"/>
              <a:t>Curriculum design and consultancy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 smtClean="0"/>
              <a:t>E-learning content and MOOCs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 smtClean="0"/>
              <a:t>Workshops and skill development programs</a:t>
            </a:r>
          </a:p>
          <a:p>
            <a:pPr>
              <a:buNone/>
            </a:pPr>
            <a:endParaRPr lang="en-US" sz="1800" dirty="0" smtClean="0"/>
          </a:p>
        </p:txBody>
      </p:sp>
      <p:sp>
        <p:nvSpPr>
          <p:cNvPr id="1026" name="AutoShape 2" descr="data:image/jpeg;base64,/9j/4AAQSkZJRgABAQAAAQABAAD/2wCEAAkGBwgHBgkIBwgKCgkLDRYPDQwMDRsUFRAWIB0iIiAdHx8kKDQsJCYxJx8fLT0tMTU3Ojo6Iys/RD84QzQ5OjcBCgoKDQwNGg8PGjclHyU3Nzc3Nzc3Nzc3Nzc3Nzc3Nzc3Nzc3Nzc3Nzc3Nzc3Nzc3Nzc3Nzc3Nzc3Nzc3Nzc3N//AABEIADgAOAMBEQACEQEDEQH/xAAbAAACAgMBAAAAAAAAAAAAAAAFBgAHAgMEAf/EADcQAAIBAgQEBAMDDQAAAAAAAAECAwQRAAUSIQYTMUFRYXGBIjKRBxRCFRYjJFJUYoKhwdHw8f/EABoBAQADAQEBAAAAAAAAAAAAAAAEBQYDAgH/xAAwEQABAwIDBgUCBwAAAAAAAAABAAIDBBEhMUEFEmFxkcETIlGB8AbRIzJCcrHh8f/aAAwDAQACEQMRAD8AvHBFMEWioq6emH6aUKbXC9WO9tgNzuRgi4G4hy8OyI7yFVkY6F7ILk/48cEXVT5pRVEhijqY+aGZDGTZtS/MLeIwRdmCKYIpgiGZrmUkMqUdAkc1dJuqO2kKvcnY/wC+ouRKKZq1a1Urzx/kygulTmc8Ydn3B5cam4O4Fib+Q6YjGYuJtgBr9lfN2W2FjPEG9K/JuQHFx/znmgea8ZZlXzCnycNSQE2RYwDNJ5k/2H1OIz6l7jZiu6XYlLTs8Sos466NHzj0RzKck4oqouZmbUcsUiaSk8lpdJt0dB5Drq9MSIxOM1TV0myHXETSD6ty6E/ZP0KCOFEC6Qqgab3t74lLPlZ4Itc8qU8Ek0rBY41LMT2AFzgiRqvM3gjziq0qK1svkmDEozRqSFRQyfMNWs9b2C44TSboIHorbZ1EJXRvfkXgdz2ShxFL90goshgNoaKJWmA/HOwuxPoDYe+IMpsBGNP5Wu2ezxXPrHZvJtwaDYdc0yfZzkiTZbWZnIt5mYxQm9tIFixHment54kUjBbfVJ9SVbt9tO3LM9l3cK1+c04qJ8zeGWmNbNEY4YgkkKhvhdh+JSChvsVBF7jcTbrMBpKaaWetlrlWcRpGILukfxBXJ2Bfbt2A8fLHgF18V3kZE2O7cTfC+GHLnx7ojj2oynXBFXfGEf3XiiV6mQLRZrRNRtKekT22v4b6T6E+GIUwtJjkRZarZbvEogGDzxODreo+XHRIuZSyzZjUyVCNHM0h1o3VW7jEN5JcbrT0zWsha1huLYKwPs4zinp+Ha6KZrGiLzsvcxkXuPcHE2lkAjN9Fldv0j31bHN/XYe+S6MqzSNFGbUIJpKtFOYPyyI6Z9gHF7XAFla3QKpNrG/eOTfbcKorKQ0spa/C2Q1PHhfj7I3T17QcQyZc2kxTR86NtVzcgW+umQ/y+eOqgEko0CCLg3BwXxe4Ik7jnKaua9XSLFUwyII6iilbTzCCdLIb7OLkbb+vTEadhOIx4K92PVxM/DkJaRiHDT1BGo+YZqsKyKaKa00FTFb4VWoUhhbtuBivcCDitpC9jm+Ug8su69y+uqcuq0qqOTlzJte1wR3BHcHwwa4tNwk8EdRGY5BcH51T3Q/aXEsAStyttYFv1dxpPsbW/riY2sFsQsxN9MuLrxyYcf6QjL5lz7iFKbJqF6GGewqDzmfTCt9QUdIxZiLL+15nHzxnTODGiwXo7Lg2ZCaiV284ZDS+nP19lbY2FsTlk1MEWqqpoaymkpqqJZYZF0ujC4Ix8IBFivccj43h7DYhVzxVwZNTgvkuXGoht+8uzx+ik7/U+mIUtPb8oWr2dtlr8KiTdP7QAfcDsOaQVos4Vgk9DUI217wsD57EdscXMaMgVZRVE7rBzm6Ygj310RLJuDs9zN4BHSzQRBjrmqRy1UeO+59gfbHRsbn3sFDmroaVrN6S5BOAIPr7dSnvJ+G844cy9o8oEclVIlQ80spW7OGAhA/hI1HTcbn5lxMZGGZLL1dbJUnzHAXsOfdPmOihqYIpgi8IBBB6HBEJPDtAUCkS2FrWkI6DSNht028++CLD82MtCMoWUau/MNx79/e+CLKThrLZDIXWYmS+o85r7kE99rkA/wDcERjB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data:image/jpeg;base64,/9j/4AAQSkZJRgABAQAAAQABAAD/2wCEAAkGBwgHBgkIBwgKCgkLDRYPDQwMDRsUFRAWIB0iIiAdHx8kKDQsJCYxJx8fLT0tMTU3Ojo6Iys/RD84QzQ5OjcBCgoKDQwNGg8PGjclHyU3Nzc3Nzc3Nzc3Nzc3Nzc3Nzc3Nzc3Nzc3Nzc3Nzc3Nzc3Nzc3Nzc3Nzc3Nzc3Nzc3N//AABEIADgAOAMBEQACEQEDEQH/xAAbAAACAgMBAAAAAAAAAAAAAAAFBgAHAgMEAf/EADcQAAIBAgQEBAMDDQAAAAAAAAECAwQRAAUSIQYTMUFRYXGBIjKRBxRCFRYjJFJUYoKhwdHw8f/EABoBAQADAQEBAAAAAAAAAAAAAAAEBQYDAgH/xAAwEQABAwIDBgUCBwAAAAAAAAABAAIDBBEhMUEFEmFxkcETIlGB8AbRIzJCcrHh8f/aAAwDAQACEQMRAD8AvHBFMEWioq6emH6aUKbXC9WO9tgNzuRgi4G4hy8OyI7yFVkY6F7ILk/48cEXVT5pRVEhijqY+aGZDGTZtS/MLeIwRdmCKYIpgiGZrmUkMqUdAkc1dJuqO2kKvcnY/wC+ouRKKZq1a1Urzx/kygulTmc8Ydn3B5cam4O4Fib+Q6YjGYuJtgBr9lfN2W2FjPEG9K/JuQHFx/znmgea8ZZlXzCnycNSQE2RYwDNJ5k/2H1OIz6l7jZiu6XYlLTs8Sos466NHzj0RzKck4oqouZmbUcsUiaSk8lpdJt0dB5Drq9MSIxOM1TV0myHXETSD6ty6E/ZP0KCOFEC6Qqgab3t74lLPlZ4Itc8qU8Ek0rBY41LMT2AFzgiRqvM3gjziq0qK1svkmDEozRqSFRQyfMNWs9b2C44TSboIHorbZ1EJXRvfkXgdz2ShxFL90goshgNoaKJWmA/HOwuxPoDYe+IMpsBGNP5Wu2ezxXPrHZvJtwaDYdc0yfZzkiTZbWZnIt5mYxQm9tIFixHment54kUjBbfVJ9SVbt9tO3LM9l3cK1+c04qJ8zeGWmNbNEY4YgkkKhvhdh+JSChvsVBF7jcTbrMBpKaaWetlrlWcRpGILukfxBXJ2Bfbt2A8fLHgF18V3kZE2O7cTfC+GHLnx7ojj2oynXBFXfGEf3XiiV6mQLRZrRNRtKekT22v4b6T6E+GIUwtJjkRZarZbvEogGDzxODreo+XHRIuZSyzZjUyVCNHM0h1o3VW7jEN5JcbrT0zWsha1huLYKwPs4zinp+Ha6KZrGiLzsvcxkXuPcHE2lkAjN9Fldv0j31bHN/XYe+S6MqzSNFGbUIJpKtFOYPyyI6Z9gHF7XAFla3QKpNrG/eOTfbcKorKQ0spa/C2Q1PHhfj7I3T17QcQyZc2kxTR86NtVzcgW+umQ/y+eOqgEko0CCLg3BwXxe4Ik7jnKaua9XSLFUwyII6iilbTzCCdLIb7OLkbb+vTEadhOIx4K92PVxM/DkJaRiHDT1BGo+YZqsKyKaKa00FTFb4VWoUhhbtuBivcCDitpC9jm+Ug8su69y+uqcuq0qqOTlzJte1wR3BHcHwwa4tNwk8EdRGY5BcH51T3Q/aXEsAStyttYFv1dxpPsbW/riY2sFsQsxN9MuLrxyYcf6QjL5lz7iFKbJqF6GGewqDzmfTCt9QUdIxZiLL+15nHzxnTODGiwXo7Lg2ZCaiV284ZDS+nP19lbY2FsTlk1MEWqqpoaymkpqqJZYZF0ujC4Ix8IBFivccj43h7DYhVzxVwZNTgvkuXGoht+8uzx+ik7/U+mIUtPb8oWr2dtlr8KiTdP7QAfcDsOaQVos4Vgk9DUI217wsD57EdscXMaMgVZRVE7rBzm6Ygj310RLJuDs9zN4BHSzQRBjrmqRy1UeO+59gfbHRsbn3sFDmroaVrN6S5BOAIPr7dSnvJ+G844cy9o8oEclVIlQ80spW7OGAhA/hI1HTcbn5lxMZGGZLL1dbJUnzHAXsOfdPmOihqYIpgi8IBBB6HBEJPDtAUCkS2FrWkI6DSNht028++CLD82MtCMoWUau/MNx79/e+CLKThrLZDIXWYmS+o85r7kE99rkA/wDcERjB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ABOUT NITTTR CHANDIGAR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spc="200" dirty="0" smtClean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accent3">
                    <a:satMod val="200000"/>
                    <a:alpha val="50000"/>
                  </a:scheme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SPAM EMAIL DETECTION </a:t>
            </a:r>
            <a:endParaRPr lang="en-US" b="1" spc="200" dirty="0">
              <a:ln w="29210">
                <a:solidFill>
                  <a:schemeClr val="accent3">
                    <a:tint val="10000"/>
                  </a:schemeClr>
                </a:solidFill>
              </a:ln>
              <a:solidFill>
                <a:schemeClr val="accent3">
                  <a:satMod val="200000"/>
                  <a:alpha val="50000"/>
                </a:schemeClr>
              </a:solidFill>
              <a:effectLst>
                <a:innerShdw blurRad="50800" dist="50800" dir="8100000">
                  <a:srgbClr val="7D7D7D">
                    <a:alpha val="73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5259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b="1" spc="200" dirty="0" smtClean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tx1"/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OBJECTIVE</a:t>
            </a:r>
            <a:endParaRPr lang="en-US" b="1" spc="200" dirty="0" smtClean="0">
              <a:ln w="29210">
                <a:solidFill>
                  <a:schemeClr val="accent3">
                    <a:tint val="10000"/>
                  </a:schemeClr>
                </a:solidFill>
              </a:ln>
              <a:solidFill>
                <a:schemeClr val="tx1"/>
              </a:solidFill>
              <a:effectLst>
                <a:innerShdw blurRad="50800" dist="50800" dir="8100000">
                  <a:srgbClr val="7D7D7D">
                    <a:alpha val="73000"/>
                  </a:srgbClr>
                </a:innerShdw>
              </a:effectLst>
              <a:latin typeface="Bahnschrift Light Condensed" pitchFamily="34" charset="0"/>
            </a:endParaRP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ahnschrift Light Condensed" pitchFamily="34" charset="0"/>
              </a:rPr>
              <a:t>Objective 1: Classify Emails as Spam or Ham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ahnschrift Light Condensed" pitchFamily="34" charset="0"/>
              </a:rPr>
              <a:t>Objective 2: Maximize Detection Accuracy While Minimizing False Positives</a:t>
            </a:r>
          </a:p>
          <a:p>
            <a:r>
              <a:rPr lang="en-US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ahnschrift Light Condensed" pitchFamily="34" charset="0"/>
              </a:rPr>
              <a:t>Objective 3: Deploy a Real-Time Prediction System</a:t>
            </a:r>
            <a:endParaRPr lang="en-US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latin typeface="Bahnschrift Light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Bahnschrift Light" pitchFamily="34" charset="0"/>
              </a:rPr>
              <a:t>PROBLEM STATEMENT</a:t>
            </a:r>
            <a:endParaRPr lang="en-US" dirty="0">
              <a:solidFill>
                <a:schemeClr val="accent1">
                  <a:lumMod val="20000"/>
                  <a:lumOff val="80000"/>
                </a:schemeClr>
              </a:solidFill>
              <a:latin typeface="Bahnschrift Light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1900" dirty="0" smtClean="0">
                <a:latin typeface="Arial Narrow" pitchFamily="34" charset="0"/>
              </a:rPr>
              <a:t>Email is a widely used communication method, but the rise in spam messages creates security risks and reduces productivity.</a:t>
            </a:r>
          </a:p>
          <a:p>
            <a:r>
              <a:rPr lang="en-US" sz="1900" dirty="0" smtClean="0">
                <a:latin typeface="Arial Narrow" pitchFamily="34" charset="0"/>
              </a:rPr>
              <a:t>Spam emails often include phishing links, fraud attempts, and unwanted promotions.</a:t>
            </a:r>
          </a:p>
          <a:p>
            <a:r>
              <a:rPr lang="en-US" sz="1900" dirty="0" smtClean="0">
                <a:latin typeface="Arial Narrow" pitchFamily="34" charset="0"/>
              </a:rPr>
              <a:t>Machine </a:t>
            </a:r>
            <a:r>
              <a:rPr lang="en-US" sz="1900" dirty="0" smtClean="0">
                <a:latin typeface="Arial Narrow" pitchFamily="34" charset="0"/>
              </a:rPr>
              <a:t>learning–based classification can improve detection reliability and adapt to new spam patterns.</a:t>
            </a:r>
          </a:p>
          <a:p>
            <a:r>
              <a:rPr lang="en-US" sz="1900" dirty="0" smtClean="0">
                <a:latin typeface="Arial Narrow" pitchFamily="34" charset="0"/>
              </a:rPr>
              <a:t>The goal is to build a model using text preprocessing, feature extraction, and ML algorithms for efficient, real-time spam detection.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rial Narrow" pitchFamily="34" charset="0"/>
              </a:rPr>
              <a:t>Tools &amp; Technologies Used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rial Narrow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643050"/>
            <a:ext cx="4286280" cy="464347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Languages, Frameworks</a:t>
            </a:r>
          </a:p>
          <a:p>
            <a:pPr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                      Python 3.x</a:t>
            </a:r>
            <a:r>
              <a:rPr lang="en-US" sz="1400" dirty="0" smtClean="0">
                <a:solidFill>
                  <a:schemeClr val="tx1"/>
                </a:solidFill>
              </a:rPr>
              <a:t> - Primary programming language for data science implementation</a:t>
            </a:r>
          </a:p>
          <a:p>
            <a:pPr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                      </a:t>
            </a:r>
            <a:r>
              <a:rPr lang="en-US" sz="1400" b="1" dirty="0" err="1" smtClean="0">
                <a:solidFill>
                  <a:schemeClr val="tx1"/>
                </a:solidFill>
              </a:rPr>
              <a:t>Streamlit</a:t>
            </a:r>
            <a:r>
              <a:rPr lang="en-US" sz="1400" dirty="0" smtClean="0">
                <a:solidFill>
                  <a:schemeClr val="tx1"/>
                </a:solidFill>
              </a:rPr>
              <a:t> - Web application framework for deployment and creating interactive UI</a:t>
            </a:r>
          </a:p>
          <a:p>
            <a:pPr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                      NLTK (Natural Language Toolkit)</a:t>
            </a:r>
            <a:r>
              <a:rPr lang="en-US" sz="1400" dirty="0" smtClean="0">
                <a:solidFill>
                  <a:schemeClr val="tx1"/>
                </a:solidFill>
              </a:rPr>
              <a:t> - Framework for natural language processing tasks</a:t>
            </a:r>
          </a:p>
          <a:p>
            <a:pPr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r>
              <a:rPr lang="en-US" sz="1400" b="1" dirty="0" smtClean="0">
                <a:solidFill>
                  <a:schemeClr val="tx1"/>
                </a:solidFill>
              </a:rPr>
              <a:t>Databases</a:t>
            </a:r>
          </a:p>
          <a:p>
            <a:pPr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                    CSV Files</a:t>
            </a:r>
            <a:r>
              <a:rPr lang="en-US" sz="1400" dirty="0" smtClean="0">
                <a:solidFill>
                  <a:schemeClr val="tx1"/>
                </a:solidFill>
              </a:rPr>
              <a:t> - Dataset storage (spam_ham_dataset.csv)</a:t>
            </a:r>
          </a:p>
          <a:p>
            <a:endParaRPr lang="en-US" sz="1400" b="1" dirty="0" smtClean="0">
              <a:solidFill>
                <a:schemeClr val="tx1"/>
              </a:solidFill>
            </a:endParaRPr>
          </a:p>
          <a:p>
            <a:r>
              <a:rPr lang="en-US" sz="1400" b="1" dirty="0" smtClean="0">
                <a:solidFill>
                  <a:schemeClr val="tx1"/>
                </a:solidFill>
              </a:rPr>
              <a:t>IDEs / Platforms</a:t>
            </a:r>
          </a:p>
          <a:p>
            <a:pPr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                    IDLE</a:t>
            </a:r>
            <a:r>
              <a:rPr lang="en-US" sz="1400" dirty="0" smtClean="0">
                <a:solidFill>
                  <a:schemeClr val="tx1"/>
                </a:solidFill>
              </a:rPr>
              <a:t> - Development environment for experimentation and model training</a:t>
            </a:r>
          </a:p>
          <a:p>
            <a:pPr>
              <a:buNone/>
            </a:pPr>
            <a:r>
              <a:rPr lang="en-US" sz="1400" b="1" dirty="0" smtClean="0">
                <a:solidFill>
                  <a:schemeClr val="tx1"/>
                </a:solidFill>
              </a:rPr>
              <a:t>                      </a:t>
            </a:r>
            <a:r>
              <a:rPr lang="en-US" sz="1400" b="1" dirty="0" err="1" smtClean="0">
                <a:solidFill>
                  <a:schemeClr val="tx1"/>
                </a:solidFill>
              </a:rPr>
              <a:t>Git</a:t>
            </a:r>
            <a:r>
              <a:rPr lang="en-US" sz="1400" dirty="0" smtClean="0">
                <a:solidFill>
                  <a:schemeClr val="tx1"/>
                </a:solidFill>
              </a:rPr>
              <a:t> - Version control system for code management</a:t>
            </a:r>
            <a:endParaRPr lang="en-US" sz="1400" b="1" dirty="0" smtClean="0">
              <a:solidFill>
                <a:schemeClr val="tx1"/>
              </a:solidFill>
            </a:endParaRPr>
          </a:p>
          <a:p>
            <a:endParaRPr lang="en-US" sz="1400" b="1" dirty="0" smtClean="0">
              <a:solidFill>
                <a:schemeClr val="tx1"/>
              </a:solidFill>
            </a:endParaRPr>
          </a:p>
          <a:p>
            <a:endParaRPr lang="en-US" sz="1400" b="1" dirty="0" smtClean="0">
              <a:solidFill>
                <a:schemeClr val="tx1"/>
              </a:solidFill>
            </a:endParaRPr>
          </a:p>
          <a:p>
            <a:endParaRPr lang="en-US" sz="1400" dirty="0" smtClean="0">
              <a:solidFill>
                <a:schemeClr val="bg2"/>
              </a:solidFill>
            </a:endParaRPr>
          </a:p>
          <a:p>
            <a:endParaRPr lang="en-US" sz="1400" dirty="0" smtClean="0">
              <a:solidFill>
                <a:schemeClr val="bg2"/>
              </a:solidFill>
            </a:endParaRPr>
          </a:p>
          <a:p>
            <a:endParaRPr lang="en-US" sz="1400" dirty="0" smtClean="0">
              <a:solidFill>
                <a:schemeClr val="bg2"/>
              </a:solidFill>
            </a:endParaRPr>
          </a:p>
          <a:p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429124" y="1643050"/>
            <a:ext cx="4429156" cy="4643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/>
              <a:t>Machine Learning &amp; Data Science:</a:t>
            </a:r>
            <a:endParaRPr lang="en-US" sz="1400" dirty="0" smtClean="0"/>
          </a:p>
          <a:p>
            <a:pPr>
              <a:buFont typeface="Arial" pitchFamily="34" charset="0"/>
              <a:buChar char="•"/>
            </a:pPr>
            <a:r>
              <a:rPr lang="en-US" sz="1400" b="1" dirty="0" err="1" smtClean="0"/>
              <a:t>Scikit</a:t>
            </a:r>
            <a:r>
              <a:rPr lang="en-US" sz="1400" b="1" dirty="0" smtClean="0"/>
              <a:t>-learn</a:t>
            </a:r>
            <a:r>
              <a:rPr lang="en-US" sz="1400" dirty="0" smtClean="0"/>
              <a:t> - Machine learning algorithms (Naive </a:t>
            </a:r>
            <a:r>
              <a:rPr lang="en-US" sz="1400" dirty="0" err="1" smtClean="0"/>
              <a:t>Bayes</a:t>
            </a:r>
            <a:r>
              <a:rPr lang="en-US" sz="1400" dirty="0" smtClean="0"/>
              <a:t>, Logistic Regression, SVM)</a:t>
            </a:r>
          </a:p>
          <a:p>
            <a:pPr>
              <a:buFont typeface="Arial" pitchFamily="34" charset="0"/>
              <a:buChar char="•"/>
            </a:pPr>
            <a:r>
              <a:rPr lang="en-US" sz="1400" b="1" dirty="0" smtClean="0"/>
              <a:t>Pandas</a:t>
            </a:r>
            <a:r>
              <a:rPr lang="en-US" sz="1400" dirty="0" smtClean="0"/>
              <a:t> - Data manipulation and analysis</a:t>
            </a:r>
          </a:p>
          <a:p>
            <a:pPr>
              <a:buFont typeface="Arial" pitchFamily="34" charset="0"/>
              <a:buChar char="•"/>
            </a:pPr>
            <a:r>
              <a:rPr lang="en-US" sz="1400" b="1" dirty="0" err="1" smtClean="0"/>
              <a:t>NumPy</a:t>
            </a:r>
            <a:r>
              <a:rPr lang="en-US" sz="1400" dirty="0" smtClean="0"/>
              <a:t> - Numerical computing and array operations</a:t>
            </a:r>
          </a:p>
          <a:p>
            <a:pPr>
              <a:buFont typeface="Arial" pitchFamily="34" charset="0"/>
              <a:buChar char="•"/>
            </a:pPr>
            <a:r>
              <a:rPr lang="en-US" sz="1400" b="1" dirty="0" err="1" smtClean="0"/>
              <a:t>Joblib</a:t>
            </a:r>
            <a:r>
              <a:rPr lang="en-US" sz="1400" dirty="0" smtClean="0"/>
              <a:t> - Model serialization and persistence</a:t>
            </a:r>
          </a:p>
          <a:p>
            <a:pPr>
              <a:buFont typeface="Arial" pitchFamily="34" charset="0"/>
              <a:buChar char="•"/>
            </a:pPr>
            <a:r>
              <a:rPr lang="en-US" sz="1400" b="1" dirty="0" smtClean="0"/>
              <a:t>Natural Language Processing:</a:t>
            </a:r>
            <a:endParaRPr lang="en-US" sz="1400" dirty="0" smtClean="0"/>
          </a:p>
          <a:p>
            <a:r>
              <a:rPr lang="en-US" sz="1400" b="1" dirty="0" smtClean="0"/>
              <a:t>      NLTK</a:t>
            </a:r>
            <a:r>
              <a:rPr lang="en-US" sz="1400" dirty="0" smtClean="0"/>
              <a:t> - Tokenization, stop word removal</a:t>
            </a:r>
          </a:p>
          <a:p>
            <a:pPr>
              <a:buFont typeface="Arial" pitchFamily="34" charset="0"/>
              <a:buChar char="•"/>
            </a:pPr>
            <a:r>
              <a:rPr lang="en-US" sz="1400" b="1" dirty="0" smtClean="0"/>
              <a:t>TF-IDF </a:t>
            </a:r>
            <a:r>
              <a:rPr lang="en-US" sz="1400" b="1" dirty="0" err="1" smtClean="0"/>
              <a:t>Vectorizer</a:t>
            </a:r>
            <a:r>
              <a:rPr lang="en-US" sz="1400" dirty="0" smtClean="0"/>
              <a:t> - Feature extraction from text (Term Frequency-Inverse Document Frequency).</a:t>
            </a:r>
          </a:p>
          <a:p>
            <a:pPr>
              <a:buFont typeface="Arial" pitchFamily="34" charset="0"/>
              <a:buChar char="•"/>
            </a:pPr>
            <a:endParaRPr lang="en-US" sz="1400" dirty="0" smtClean="0"/>
          </a:p>
          <a:p>
            <a:endParaRPr lang="en-US" sz="1400" dirty="0" smtClean="0"/>
          </a:p>
          <a:p>
            <a:r>
              <a:rPr lang="en-US" sz="1400" b="1" dirty="0" smtClean="0"/>
              <a:t>Visualization:</a:t>
            </a:r>
            <a:endParaRPr lang="en-US" sz="1400" dirty="0" smtClean="0"/>
          </a:p>
          <a:p>
            <a:r>
              <a:rPr lang="en-US" sz="1400" b="1" dirty="0" smtClean="0"/>
              <a:t>       </a:t>
            </a:r>
            <a:r>
              <a:rPr lang="en-US" sz="1400" b="1" dirty="0" err="1" smtClean="0"/>
              <a:t>Matplotlib</a:t>
            </a:r>
            <a:r>
              <a:rPr lang="en-US" sz="1400" dirty="0" smtClean="0"/>
              <a:t> - Data visualization and plotting</a:t>
            </a:r>
          </a:p>
          <a:p>
            <a:r>
              <a:rPr lang="en-US" sz="1400" b="1" dirty="0" smtClean="0"/>
              <a:t>       </a:t>
            </a:r>
            <a:r>
              <a:rPr lang="en-US" sz="1400" b="1" dirty="0" err="1" smtClean="0"/>
              <a:t>Seaborn</a:t>
            </a:r>
            <a:r>
              <a:rPr lang="en-US" sz="1400" dirty="0" smtClean="0"/>
              <a:t> - Statistical data visualization and confusion matrix generation</a:t>
            </a:r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 smtClean="0"/>
          </a:p>
          <a:p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 SOFTWARE USED &amp; REQUIRED TO RUN (WITH VERSION)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hnschrift Light Condensed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57157" y="1785927"/>
          <a:ext cx="8215371" cy="422519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738457"/>
                <a:gridCol w="2262204"/>
                <a:gridCol w="3214710"/>
              </a:tblGrid>
              <a:tr h="301593">
                <a:tc>
                  <a:txBody>
                    <a:bodyPr/>
                    <a:lstStyle/>
                    <a:p>
                      <a:r>
                        <a:rPr lang="en-US" sz="1600" dirty="0"/>
                        <a:t>Software / Library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Version (Recommended)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Purpose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301593">
                <a:tc>
                  <a:txBody>
                    <a:bodyPr/>
                    <a:lstStyle/>
                    <a:p>
                      <a:r>
                        <a:rPr lang="en-US" sz="1600"/>
                        <a:t>Python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3.9 / 3.10 / 3.11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Core programming language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301593">
                <a:tc>
                  <a:txBody>
                    <a:bodyPr/>
                    <a:lstStyle/>
                    <a:p>
                      <a:r>
                        <a:rPr lang="en-US" sz="1600"/>
                        <a:t>pandas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1.5.x or 2.x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Data loading and manipulation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301593">
                <a:tc>
                  <a:txBody>
                    <a:bodyPr/>
                    <a:lstStyle/>
                    <a:p>
                      <a:r>
                        <a:rPr lang="en-US" sz="1600"/>
                        <a:t>numpy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1.23+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Numerical operations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560103">
                <a:tc>
                  <a:txBody>
                    <a:bodyPr/>
                    <a:lstStyle/>
                    <a:p>
                      <a:r>
                        <a:rPr lang="en-US" sz="1600"/>
                        <a:t>scikit-learn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1.2+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ML algorithms (SVM, NB, LR), preprocessing, evaluation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430849">
                <a:tc>
                  <a:txBody>
                    <a:bodyPr/>
                    <a:lstStyle/>
                    <a:p>
                      <a:r>
                        <a:rPr lang="en-US" sz="1600"/>
                        <a:t>nltk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3.8+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Text preprocessing (</a:t>
                      </a:r>
                      <a:r>
                        <a:rPr lang="en-US" sz="1600" dirty="0" err="1"/>
                        <a:t>stopwords</a:t>
                      </a:r>
                      <a:r>
                        <a:rPr lang="en-US" sz="1600" dirty="0"/>
                        <a:t>, stemming)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301593">
                <a:tc>
                  <a:txBody>
                    <a:bodyPr/>
                    <a:lstStyle/>
                    <a:p>
                      <a:r>
                        <a:rPr lang="en-US" sz="1600"/>
                        <a:t>joblib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1.2+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Model serialization (saving/loading)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430849">
                <a:tc>
                  <a:txBody>
                    <a:bodyPr/>
                    <a:lstStyle/>
                    <a:p>
                      <a:r>
                        <a:rPr lang="en-US" sz="1600"/>
                        <a:t>matplotlib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3.6+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Visualization (confusion matrix, accuracy plots)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430849">
                <a:tc>
                  <a:txBody>
                    <a:bodyPr/>
                    <a:lstStyle/>
                    <a:p>
                      <a:r>
                        <a:rPr lang="en-US" sz="1600"/>
                        <a:t>seaborn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0.12+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Enhanced plotting (</a:t>
                      </a:r>
                      <a:r>
                        <a:rPr lang="en-US" sz="1600" dirty="0" err="1"/>
                        <a:t>heatmaps</a:t>
                      </a:r>
                      <a:r>
                        <a:rPr lang="en-US" sz="1600" dirty="0"/>
                        <a:t>, bar plots)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  <a:tr h="560103">
                <a:tc>
                  <a:txBody>
                    <a:bodyPr/>
                    <a:lstStyle/>
                    <a:p>
                      <a:r>
                        <a:rPr lang="en-US" sz="1600"/>
                        <a:t>streamlit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1.23+</a:t>
                      </a:r>
                      <a:endParaRPr lang="en-US" sz="160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Web app framework for real-time spam prediction interface</a:t>
                      </a:r>
                      <a:endParaRPr lang="en-US" sz="1600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  <a:latin typeface="Bahnschrift Light Condensed" pitchFamily="34" charset="0"/>
                      </a:endParaRPr>
                    </a:p>
                  </a:txBody>
                  <a:tcPr marL="44659" marR="44659" marT="22330" marB="2233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latin typeface="Bahnschrift Light Condensed" pitchFamily="34" charset="0"/>
              </a:rPr>
              <a:t>HARDWARE USED</a:t>
            </a:r>
            <a:endParaRPr lang="en-US" sz="60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  <a:latin typeface="Bahnschrift Light Condensed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14345" y="1714488"/>
          <a:ext cx="7858182" cy="381881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19394"/>
                <a:gridCol w="2619394"/>
                <a:gridCol w="2619394"/>
              </a:tblGrid>
              <a:tr h="534634">
                <a:tc>
                  <a:txBody>
                    <a:bodyPr/>
                    <a:lstStyle/>
                    <a:p>
                      <a:r>
                        <a:rPr lang="en-US" sz="1600" dirty="0"/>
                        <a:t>Component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Recommended Spec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Purpose / Justification</a:t>
                      </a:r>
                    </a:p>
                  </a:txBody>
                  <a:tcPr marL="71841" marR="71841" marT="35920" marB="35920" anchor="ctr"/>
                </a:tc>
              </a:tr>
              <a:tr h="763762">
                <a:tc>
                  <a:txBody>
                    <a:bodyPr/>
                    <a:lstStyle/>
                    <a:p>
                      <a:r>
                        <a:rPr lang="en-US" sz="1600" dirty="0"/>
                        <a:t>CPU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Intel i5 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Handles text processing and ML model training</a:t>
                      </a:r>
                    </a:p>
                  </a:txBody>
                  <a:tcPr marL="71841" marR="71841" marT="35920" marB="35920" anchor="ctr"/>
                </a:tc>
              </a:tr>
              <a:tr h="992891">
                <a:tc>
                  <a:txBody>
                    <a:bodyPr/>
                    <a:lstStyle/>
                    <a:p>
                      <a:r>
                        <a:rPr lang="en-US" sz="1600"/>
                        <a:t>RAM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16 </a:t>
                      </a:r>
                      <a:r>
                        <a:rPr lang="en-US" sz="1600" dirty="0"/>
                        <a:t>GB 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Allows for smooth data loading, TF-IDF vectorization, and training</a:t>
                      </a:r>
                    </a:p>
                  </a:txBody>
                  <a:tcPr marL="71841" marR="71841" marT="35920" marB="35920" anchor="ctr"/>
                </a:tc>
              </a:tr>
              <a:tr h="763762">
                <a:tc>
                  <a:txBody>
                    <a:bodyPr/>
                    <a:lstStyle/>
                    <a:p>
                      <a:r>
                        <a:rPr lang="en-US" sz="1600"/>
                        <a:t>Storage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At least 500 MB free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For dataset, model files, and dependencies</a:t>
                      </a:r>
                    </a:p>
                  </a:txBody>
                  <a:tcPr marL="71841" marR="71841" marT="35920" marB="35920" anchor="ctr"/>
                </a:tc>
              </a:tr>
              <a:tr h="763762">
                <a:tc>
                  <a:txBody>
                    <a:bodyPr/>
                    <a:lstStyle/>
                    <a:p>
                      <a:r>
                        <a:rPr lang="en-US" sz="1600" dirty="0"/>
                        <a:t>Display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720p or higher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To run and view </a:t>
                      </a:r>
                      <a:r>
                        <a:rPr lang="en-US" sz="1600" dirty="0" err="1"/>
                        <a:t>Streamlit</a:t>
                      </a:r>
                      <a:r>
                        <a:rPr lang="en-US" sz="1600" dirty="0"/>
                        <a:t> UI comfortably</a:t>
                      </a:r>
                    </a:p>
                  </a:txBody>
                  <a:tcPr marL="71841" marR="71841" marT="35920" marB="3592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hnschrift Light Condensed" pitchFamily="34" charset="0"/>
              </a:rPr>
              <a:t>MINIMUM REQUIREMENTS 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hnschrift Light Condensed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85786" y="2000240"/>
          <a:ext cx="7715304" cy="324084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71768"/>
                <a:gridCol w="2571768"/>
                <a:gridCol w="2571768"/>
              </a:tblGrid>
              <a:tr h="418174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  <a:endParaRPr lang="en-US" dirty="0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Minimum Spec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</a:tr>
              <a:tr h="1045434">
                <a:tc>
                  <a:txBody>
                    <a:bodyPr/>
                    <a:lstStyle/>
                    <a:p>
                      <a:r>
                        <a:rPr lang="en-US"/>
                        <a:t>CPU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Dual-core processor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For running the Streamlit app and light ML tasks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</a:tr>
              <a:tr h="1045434">
                <a:tc>
                  <a:txBody>
                    <a:bodyPr/>
                    <a:lstStyle/>
                    <a:p>
                      <a:r>
                        <a:rPr lang="en-US"/>
                        <a:t>RAM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 GB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Might be slow for training; OK for predictions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</a:tr>
              <a:tr h="731804">
                <a:tc>
                  <a:txBody>
                    <a:bodyPr/>
                    <a:lstStyle/>
                    <a:p>
                      <a:r>
                        <a:rPr lang="en-US" dirty="0"/>
                        <a:t>Storage</a:t>
                      </a:r>
                      <a:endParaRPr lang="en-US" dirty="0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~200 MB</a:t>
                      </a:r>
                      <a:endParaRPr lang="en-US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Enough for model and </a:t>
                      </a:r>
                      <a:r>
                        <a:rPr lang="en-US" dirty="0" err="1"/>
                        <a:t>vectorizer</a:t>
                      </a:r>
                      <a:r>
                        <a:rPr lang="en-US" dirty="0"/>
                        <a:t> files</a:t>
                      </a:r>
                      <a:endParaRPr lang="en-US" dirty="0">
                        <a:latin typeface="Bahnschrift Light Condensed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1143000"/>
          </a:xfrm>
        </p:spPr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LIBRARIES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727" y="1214422"/>
            <a:ext cx="7769885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US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hnschrift Light Condensed" pitchFamily="34" charset="0"/>
              </a:rPr>
              <a:t>DATASET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hnschrift Light Condensed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928670"/>
            <a:ext cx="5634522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3071810"/>
            <a:ext cx="5159375" cy="3513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TEXT PROCESSING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028" name="Picture 4" descr="C:\Users\Acer\Pictures\Screenshots\Screenshot 2025-11-23 143954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500174"/>
            <a:ext cx="8304022" cy="47577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229600" cy="928694"/>
          </a:xfrm>
        </p:spPr>
        <p:txBody>
          <a:bodyPr/>
          <a:lstStyle/>
          <a:p>
            <a:r>
              <a:rPr lang="en-US" dirty="0" smtClean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32000" dir="5400000" algn="tl">
                    <a:srgbClr val="000000">
                      <a:alpha val="30000"/>
                    </a:srgbClr>
                  </a:outerShdw>
                </a:effectLst>
              </a:rPr>
              <a:t>ML MODELS</a:t>
            </a:r>
            <a:endParaRPr lang="en-US" dirty="0">
              <a:ln w="1016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blurRad="38100" dist="32000" dir="540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8715436" cy="240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3929066"/>
            <a:ext cx="6382889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Acer\Pictures\Screenshots\Screenshot 2025-07-16 19053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00042"/>
            <a:ext cx="7994752" cy="2786082"/>
          </a:xfrm>
          <a:prstGeom prst="rect">
            <a:avLst/>
          </a:prstGeom>
          <a:noFill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643314"/>
            <a:ext cx="6465536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428604"/>
            <a:ext cx="7388723" cy="2500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00166" y="3357562"/>
            <a:ext cx="5909363" cy="2143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714372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CONFUSION MATRIX OF  MODELS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857232"/>
            <a:ext cx="8035419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 descr="C:\Users\Acer\Pictures\Screenshots\Screenshot 2025-07-16 190019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4000504"/>
            <a:ext cx="2500330" cy="2280835"/>
          </a:xfrm>
          <a:prstGeom prst="rect">
            <a:avLst/>
          </a:prstGeom>
          <a:noFill/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364" y="3929066"/>
            <a:ext cx="3071834" cy="2413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215074" y="3857628"/>
            <a:ext cx="2714644" cy="2559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785926"/>
            <a:ext cx="8515883" cy="4400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500166" y="428604"/>
            <a:ext cx="53578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hnschrift Light Condensed" pitchFamily="34" charset="0"/>
              </a:rPr>
              <a:t>CAMPARISON OF MODELS</a:t>
            </a:r>
            <a:endParaRPr lang="en-US" sz="4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hnschrift Light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428604"/>
            <a:ext cx="5195939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4" descr="C:\Users\Acer\compar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2285992"/>
            <a:ext cx="6929486" cy="433092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CHALLENGES AND SOLUTIONS 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endParaRPr lang="en-US" sz="1500" b="1" dirty="0" smtClean="0">
              <a:latin typeface="Arial Narrow" pitchFamily="34" charset="0"/>
            </a:endParaRPr>
          </a:p>
          <a:p>
            <a:r>
              <a:rPr lang="en-US" sz="1500" b="1" dirty="0" smtClean="0">
                <a:latin typeface="Arial Narrow" pitchFamily="34" charset="0"/>
              </a:rPr>
              <a:t>Challenge 1: Understanding Text Preprocessing</a:t>
            </a:r>
            <a:endParaRPr lang="en-US" sz="1500" dirty="0" smtClean="0">
              <a:latin typeface="Arial Narrow" pitchFamily="34" charset="0"/>
            </a:endParaRPr>
          </a:p>
          <a:p>
            <a:r>
              <a:rPr lang="en-US" sz="1500" b="1" dirty="0" smtClean="0">
                <a:latin typeface="Arial Narrow" pitchFamily="34" charset="0"/>
              </a:rPr>
              <a:t>Issue:</a:t>
            </a:r>
            <a:r>
              <a:rPr lang="en-US" sz="1500" dirty="0" smtClean="0">
                <a:latin typeface="Arial Narrow" pitchFamily="34" charset="0"/>
              </a:rPr>
              <a:t> Initial difficulty in understanding why multiple preprocessing steps are necessary</a:t>
            </a:r>
          </a:p>
          <a:p>
            <a:r>
              <a:rPr lang="en-US" sz="1500" b="1" dirty="0" smtClean="0">
                <a:latin typeface="Arial Narrow" pitchFamily="34" charset="0"/>
              </a:rPr>
              <a:t>Solution:</a:t>
            </a:r>
            <a:r>
              <a:rPr lang="en-US" sz="1500" dirty="0" smtClean="0">
                <a:latin typeface="Arial Narrow" pitchFamily="34" charset="0"/>
              </a:rPr>
              <a:t> Experimented with different preprocessing combinations and observed their impact on model performance, leading to better understanding of each step's importance.</a:t>
            </a:r>
          </a:p>
          <a:p>
            <a:r>
              <a:rPr lang="en-US" sz="1500" b="1" dirty="0" smtClean="0">
                <a:latin typeface="Arial Narrow" pitchFamily="34" charset="0"/>
              </a:rPr>
              <a:t>Challenge 2: Model Selection</a:t>
            </a:r>
            <a:endParaRPr lang="en-US" sz="1500" dirty="0" smtClean="0">
              <a:latin typeface="Arial Narrow" pitchFamily="34" charset="0"/>
            </a:endParaRPr>
          </a:p>
          <a:p>
            <a:r>
              <a:rPr lang="en-US" sz="1500" b="1" dirty="0" smtClean="0">
                <a:latin typeface="Arial Narrow" pitchFamily="34" charset="0"/>
              </a:rPr>
              <a:t>Issue:</a:t>
            </a:r>
            <a:r>
              <a:rPr lang="en-US" sz="1500" dirty="0" smtClean="0">
                <a:latin typeface="Arial Narrow" pitchFamily="34" charset="0"/>
              </a:rPr>
              <a:t> Uncertainty about which algorithm to use for the final deployment</a:t>
            </a:r>
          </a:p>
          <a:p>
            <a:r>
              <a:rPr lang="en-US" sz="1500" b="1" dirty="0" smtClean="0">
                <a:latin typeface="Arial Narrow" pitchFamily="34" charset="0"/>
              </a:rPr>
              <a:t>Solution:</a:t>
            </a:r>
            <a:r>
              <a:rPr lang="en-US" sz="1500" dirty="0" smtClean="0">
                <a:latin typeface="Arial Narrow" pitchFamily="34" charset="0"/>
              </a:rPr>
              <a:t> Implemented multiple models, compared their performance systematically, and selected SVM based on accuracy and reliability metrics.</a:t>
            </a:r>
          </a:p>
          <a:p>
            <a:r>
              <a:rPr lang="en-US" sz="1500" b="1" dirty="0" smtClean="0">
                <a:latin typeface="Arial Narrow" pitchFamily="34" charset="0"/>
              </a:rPr>
              <a:t>Challenge 3: File Path Management</a:t>
            </a:r>
            <a:endParaRPr lang="en-US" sz="1500" dirty="0" smtClean="0">
              <a:latin typeface="Arial Narrow" pitchFamily="34" charset="0"/>
            </a:endParaRPr>
          </a:p>
          <a:p>
            <a:r>
              <a:rPr lang="en-US" sz="1500" b="1" dirty="0" smtClean="0">
                <a:latin typeface="Arial Narrow" pitchFamily="34" charset="0"/>
              </a:rPr>
              <a:t>Issue:</a:t>
            </a:r>
            <a:r>
              <a:rPr lang="en-US" sz="1500" dirty="0" smtClean="0">
                <a:latin typeface="Arial Narrow" pitchFamily="34" charset="0"/>
              </a:rPr>
              <a:t> Model loading errors due to absolute file paths</a:t>
            </a:r>
          </a:p>
          <a:p>
            <a:r>
              <a:rPr lang="en-US" sz="1500" b="1" dirty="0" smtClean="0">
                <a:latin typeface="Arial Narrow" pitchFamily="34" charset="0"/>
              </a:rPr>
              <a:t>Solution:</a:t>
            </a:r>
            <a:r>
              <a:rPr lang="en-US" sz="1500" dirty="0" smtClean="0">
                <a:latin typeface="Arial Narrow" pitchFamily="34" charset="0"/>
              </a:rPr>
              <a:t> Implemented relative path handling and comprehensive error messages to ensure smooth deployment across different environments.</a:t>
            </a:r>
          </a:p>
          <a:p>
            <a:r>
              <a:rPr lang="en-US" sz="1500" b="1" dirty="0" smtClean="0">
                <a:latin typeface="Arial Narrow" pitchFamily="34" charset="0"/>
              </a:rPr>
              <a:t>Challenge 4: Balancing Theory and Practice</a:t>
            </a:r>
            <a:endParaRPr lang="en-US" sz="1500" dirty="0" smtClean="0">
              <a:latin typeface="Arial Narrow" pitchFamily="34" charset="0"/>
            </a:endParaRPr>
          </a:p>
          <a:p>
            <a:r>
              <a:rPr lang="en-US" sz="1500" b="1" dirty="0" smtClean="0">
                <a:latin typeface="Arial Narrow" pitchFamily="34" charset="0"/>
              </a:rPr>
              <a:t>Issue:</a:t>
            </a:r>
            <a:r>
              <a:rPr lang="en-US" sz="1500" dirty="0" smtClean="0">
                <a:latin typeface="Arial Narrow" pitchFamily="34" charset="0"/>
              </a:rPr>
              <a:t> Absorbing theoretical concepts while maintaining hands-on practice</a:t>
            </a:r>
          </a:p>
          <a:p>
            <a:r>
              <a:rPr lang="en-US" sz="1500" b="1" dirty="0" smtClean="0">
                <a:latin typeface="Arial Narrow" pitchFamily="34" charset="0"/>
              </a:rPr>
              <a:t>Solution:</a:t>
            </a:r>
            <a:r>
              <a:rPr lang="en-US" sz="1500" dirty="0" smtClean="0">
                <a:latin typeface="Arial Narrow" pitchFamily="34" charset="0"/>
              </a:rPr>
              <a:t> Applied each concept immediately through small projects and exercises, reinforcing learning through practical implementation.</a:t>
            </a:r>
          </a:p>
          <a:p>
            <a:endParaRPr lang="en-US" sz="1500" dirty="0">
              <a:latin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LEARNING OUTCOMES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Professional Skills Developed</a:t>
            </a:r>
            <a:endParaRPr lang="en-US" dirty="0" smtClean="0"/>
          </a:p>
          <a:p>
            <a:pPr lvl="0"/>
            <a:r>
              <a:rPr lang="en-US" b="1" dirty="0" smtClean="0"/>
              <a:t>Problem-Solving:</a:t>
            </a:r>
            <a:r>
              <a:rPr lang="en-US" dirty="0" smtClean="0"/>
              <a:t> Breaking down complex data science problems into manageable steps</a:t>
            </a:r>
          </a:p>
          <a:p>
            <a:pPr lvl="0"/>
            <a:r>
              <a:rPr lang="en-US" b="1" dirty="0" smtClean="0"/>
              <a:t>Code Organization:</a:t>
            </a:r>
            <a:r>
              <a:rPr lang="en-US" dirty="0" smtClean="0"/>
              <a:t> Writing clean, maintainable, and well-documented code</a:t>
            </a:r>
          </a:p>
          <a:p>
            <a:pPr lvl="0"/>
            <a:r>
              <a:rPr lang="en-US" b="1" dirty="0" smtClean="0"/>
              <a:t>Project Management:</a:t>
            </a:r>
            <a:r>
              <a:rPr lang="en-US" dirty="0" smtClean="0"/>
              <a:t> Planning and executing projects from conception to deployment</a:t>
            </a:r>
          </a:p>
          <a:p>
            <a:pPr lvl="0"/>
            <a:r>
              <a:rPr lang="en-US" b="1" dirty="0" smtClean="0"/>
              <a:t>Communication:</a:t>
            </a:r>
            <a:r>
              <a:rPr lang="en-US" dirty="0" smtClean="0"/>
              <a:t> Documenting work and presenting technical concepts clearly</a:t>
            </a:r>
          </a:p>
          <a:p>
            <a:pPr>
              <a:buNone/>
            </a:pPr>
            <a:r>
              <a:rPr lang="en-US" b="1" dirty="0" smtClean="0"/>
              <a:t>Industry Exposure</a:t>
            </a:r>
            <a:endParaRPr lang="en-US" dirty="0" smtClean="0"/>
          </a:p>
          <a:p>
            <a:pPr lvl="0"/>
            <a:r>
              <a:rPr lang="en-US" dirty="0" smtClean="0"/>
              <a:t>Real-world applications of data science in urban planning</a:t>
            </a:r>
          </a:p>
          <a:p>
            <a:pPr lvl="0"/>
            <a:r>
              <a:rPr lang="en-US" dirty="0" smtClean="0"/>
              <a:t>Importance of geographical data analysis</a:t>
            </a:r>
          </a:p>
          <a:p>
            <a:pPr lvl="0"/>
            <a:r>
              <a:rPr lang="en-US" dirty="0" smtClean="0"/>
              <a:t>Interdisciplinary applications of machine learning</a:t>
            </a:r>
          </a:p>
          <a:p>
            <a:pPr lvl="0"/>
            <a:r>
              <a:rPr lang="en-US" dirty="0" smtClean="0"/>
              <a:t>Industry best practices and standards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42910" y="857232"/>
            <a:ext cx="74295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FUTURE SCOPE</a:t>
            </a:r>
          </a:p>
          <a:p>
            <a:pPr algn="ctr"/>
            <a:endParaRPr lang="en-US" sz="3600" b="1" dirty="0" smtClean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Improve accuracy using deep learning models like LSTM or BERT.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Explain predictions using tools like LIME or SHAP for transparency.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Real-time email filtering by integrating with email services (Gmail, Outlook, etc.).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Enhance text processing with better cleaning methods like lemmatization and spell correction.</a:t>
            </a:r>
          </a:p>
          <a:p>
            <a:pPr>
              <a:buFont typeface="Arial" pitchFamily="34" charset="0"/>
              <a:buChar char="•"/>
            </a:pPr>
            <a:r>
              <a:rPr lang="en-US" sz="2800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Bahnschrift Light Condensed" pitchFamily="34" charset="0"/>
              </a:rPr>
              <a:t>Deploy the application online so it can be accessed by users through a browser.</a:t>
            </a:r>
            <a:endParaRPr lang="en-US" sz="2800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Bahnschrift Light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2357430"/>
            <a:ext cx="8229600" cy="1143000"/>
          </a:xfrm>
        </p:spPr>
        <p:txBody>
          <a:bodyPr>
            <a:noAutofit/>
          </a:bodyPr>
          <a:lstStyle/>
          <a:p>
            <a:r>
              <a:rPr lang="en-US" sz="9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ahnschrift Light Condensed" pitchFamily="34" charset="0"/>
              </a:rPr>
              <a:t>THANK YOU </a:t>
            </a:r>
            <a:endParaRPr lang="en-US" sz="9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ahnschrift Light Condensed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903</Words>
  <Application>Microsoft Office PowerPoint</Application>
  <PresentationFormat>On-screen Show (4:3)</PresentationFormat>
  <Paragraphs>160</Paragraphs>
  <Slides>21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     SPAM EMAIL DETECTION </vt:lpstr>
      <vt:lpstr>INSTITUTION  PROFILE</vt:lpstr>
      <vt:lpstr>SPAM EMAIL DETECTION </vt:lpstr>
      <vt:lpstr>PROBLEM STATEMENT</vt:lpstr>
      <vt:lpstr>Tools &amp; Technologies Used</vt:lpstr>
      <vt:lpstr> SOFTWARE USED &amp; REQUIRED TO RUN (WITH VERSION)</vt:lpstr>
      <vt:lpstr>HARDWARE USED</vt:lpstr>
      <vt:lpstr>MINIMUM REQUIREMENTS </vt:lpstr>
      <vt:lpstr>LIBRARIES</vt:lpstr>
      <vt:lpstr>DATASET</vt:lpstr>
      <vt:lpstr>TEXT PROCESSING</vt:lpstr>
      <vt:lpstr>ML MODELS</vt:lpstr>
      <vt:lpstr>Slide 13</vt:lpstr>
      <vt:lpstr>Slide 14</vt:lpstr>
      <vt:lpstr>CONFUSION MATRIX OF  MODELS</vt:lpstr>
      <vt:lpstr>Slide 16</vt:lpstr>
      <vt:lpstr>Slide 17</vt:lpstr>
      <vt:lpstr>CHALLENGES AND SOLUTIONS </vt:lpstr>
      <vt:lpstr>LEARNING OUTCOMES</vt:lpstr>
      <vt:lpstr>Slide 20</vt:lpstr>
      <vt:lpstr>THANK YOU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SPAM EMAIL DETECTION</dc:title>
  <dc:creator>Acer</dc:creator>
  <cp:lastModifiedBy>Acer</cp:lastModifiedBy>
  <cp:revision>44</cp:revision>
  <dcterms:created xsi:type="dcterms:W3CDTF">2025-07-17T08:21:25Z</dcterms:created>
  <dcterms:modified xsi:type="dcterms:W3CDTF">2025-11-23T12:55:03Z</dcterms:modified>
</cp:coreProperties>
</file>